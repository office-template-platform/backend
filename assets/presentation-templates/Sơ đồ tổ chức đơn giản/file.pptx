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93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12192000" cy="6858000"/>
  <p:notesSz cx="6858000" cy="9144000"/>
  <p:defaultTextStyle>
    <a:defPPr rtl="0">
      <a:defRPr lang="vi-V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Tác giả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89" autoAdjust="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70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>
            <a:extLst>
              <a:ext uri="{FF2B5EF4-FFF2-40B4-BE49-F238E27FC236}">
                <a16:creationId xmlns:a16="http://schemas.microsoft.com/office/drawing/2014/main" id="{EB6F786D-919B-4EF5-BD44-C01ABFF51C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vi-VN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7C3CE706-A491-407B-8A3C-1E1B38E3BE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FEC02A3-B05D-45A1-A039-E7E04E426A30}" type="datetime1">
              <a:rPr lang="vi-VN" smtClean="0"/>
              <a:t>31/10/2026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49EB2EC7-06AC-483D-9F0F-8513034635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77165677-A8C6-4167-BD6B-72F4BE86DE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D49346E-4525-4E9D-8817-A0F329044F3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18088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vi-VN" noProof="0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8D72D35-4894-450E-BF16-1723BDC22581}" type="datetime1">
              <a:rPr lang="vi-VN" noProof="0" smtClean="0"/>
              <a:t>31/10/2026</a:t>
            </a:fld>
            <a:endParaRPr lang="vi-VN" noProof="0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vi-VN" noProof="0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vi-VN" noProof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A180B81-AA4E-4B75-A7A4-FD12E7A9A81B}" type="slidenum">
              <a:rPr lang="vi-VN" noProof="0" smtClean="0"/>
              <a:t>‹#›</a:t>
            </a:fld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25162896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A180B81-AA4E-4B75-A7A4-FD12E7A9A81B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53675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rang chiếu 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 hasCustomPrompt="1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vi-VN" noProof="0"/>
              <a:t>Bấm để chỉnh sửa kiểu phụ đề của Bản cái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E0B6FD79-E80E-4BB0-A2BE-3E87F2FCA750}" type="datetime1">
              <a:rPr lang="vi-VN" noProof="0" smtClean="0"/>
              <a:t>31/10/2026</a:t>
            </a:fld>
            <a:endParaRPr lang="vi-VN" noProof="0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966EA62-41C5-4F9A-A915-5B0BC739C923}" type="slidenum">
              <a:rPr lang="vi-VN" noProof="0" smtClean="0"/>
              <a:t>‹#›</a:t>
            </a:fld>
            <a:endParaRPr lang="vi-VN" noProof="0"/>
          </a:p>
        </p:txBody>
      </p:sp>
      <p:cxnSp>
        <p:nvCxnSpPr>
          <p:cNvPr id="13" name="Đường nối Thẳng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ình chữ nhật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09596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ề và Nộ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8711F78-1E6F-4BC3-AA38-0182695E6461}" type="datetime1">
              <a:rPr lang="vi-VN" noProof="0" smtClean="0"/>
              <a:t>31/10/2026</a:t>
            </a:fld>
            <a:endParaRPr lang="vi-VN" noProof="0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966EA62-41C5-4F9A-A915-5B0BC739C923}" type="slidenum">
              <a:rPr lang="vi-VN" noProof="0" smtClean="0"/>
              <a:t>‹#›</a:t>
            </a:fld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1880026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Đầu trang của phầ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vi-VN" noProof="0"/>
              <a:t>Bấm để chỉnh sửa kiểu văn bản Bản cái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ABB4CE5-9270-4F32-922F-15CC94D2E35F}" type="datetime1">
              <a:rPr lang="vi-VN" noProof="0" smtClean="0"/>
              <a:t>31/10/2026</a:t>
            </a:fld>
            <a:endParaRPr lang="vi-VN" noProof="0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966EA62-41C5-4F9A-A915-5B0BC739C923}" type="slidenum">
              <a:rPr lang="vi-VN" noProof="0" smtClean="0"/>
              <a:t>‹#›</a:t>
            </a:fld>
            <a:endParaRPr lang="vi-VN" noProof="0"/>
          </a:p>
        </p:txBody>
      </p:sp>
      <p:cxnSp>
        <p:nvCxnSpPr>
          <p:cNvPr id="12" name="Đường nối Thẳng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Hình chữ nhật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238330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ộ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 hasCustomPrompt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 hasCustomPrompt="1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3ADB53-DB02-464E-9BFA-F7D9895E52DF}" type="datetime1">
              <a:rPr lang="vi-VN" noProof="0" smtClean="0"/>
              <a:t>31/10/2026</a:t>
            </a:fld>
            <a:endParaRPr lang="vi-VN" noProof="0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966EA62-41C5-4F9A-A915-5B0BC739C923}" type="slidenum">
              <a:rPr lang="vi-VN" noProof="0" smtClean="0"/>
              <a:t>‹#›</a:t>
            </a:fld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45805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o sá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êu đề 9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vi-VN" noProof="0"/>
              <a:t>Bấm để chỉnh sửa kiểu văn bản Bản cái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 hasCustomPrompt="1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 hasCustomPrompt="1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vi-VN" noProof="0"/>
              <a:t>Bấm để chỉnh sửa kiểu văn bản Bản cái</a:t>
            </a:r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 hasCustomPrompt="1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C3E88C7-0C6E-4C38-ABED-107AC6D71820}" type="datetime1">
              <a:rPr lang="vi-VN" noProof="0" smtClean="0"/>
              <a:t>31/10/2026</a:t>
            </a:fld>
            <a:endParaRPr lang="vi-VN" noProof="0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966EA62-41C5-4F9A-A915-5B0BC739C923}" type="slidenum">
              <a:rPr lang="vi-VN" noProof="0" smtClean="0"/>
              <a:t>‹#›</a:t>
            </a:fld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852749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ỉ 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AC7E48-11A5-48E6-8A69-E8A30742956C}" type="datetime1">
              <a:rPr lang="vi-VN" noProof="0" smtClean="0"/>
              <a:t>31/10/2026</a:t>
            </a:fld>
            <a:endParaRPr lang="vi-VN" noProof="0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966EA62-41C5-4F9A-A915-5B0BC739C923}" type="slidenum">
              <a:rPr lang="vi-VN" noProof="0" smtClean="0"/>
              <a:t>‹#›</a:t>
            </a:fld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3570867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rố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0FC3A7-6D13-41C5-8943-18A459C858BB}" type="datetime1">
              <a:rPr lang="vi-VN" noProof="0" smtClean="0"/>
              <a:t>31/10/2026</a:t>
            </a:fld>
            <a:endParaRPr lang="vi-VN" noProof="0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966EA62-41C5-4F9A-A915-5B0BC739C923}" type="slidenum">
              <a:rPr lang="vi-VN" noProof="0" smtClean="0"/>
              <a:t>‹#›</a:t>
            </a:fld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22258246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ội dung có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êu đề 7"/>
          <p:cNvSpPr>
            <a:spLocks noGrp="1"/>
          </p:cNvSpPr>
          <p:nvPr>
            <p:ph type="title" hasCustomPrompt="1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 hasCustomPrompt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 hasCustomPrompt="1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vi-VN" noProof="0"/>
              <a:t>Bấm để chỉnh sửa kiểu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7D7B1C3-0AD0-4752-A0B9-695C5D479556}" type="datetime1">
              <a:rPr lang="vi-VN" noProof="0" smtClean="0"/>
              <a:t>31/10/2026</a:t>
            </a:fld>
            <a:endParaRPr lang="vi-VN" noProof="0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966EA62-41C5-4F9A-A915-5B0BC739C923}" type="slidenum">
              <a:rPr lang="vi-VN" noProof="0" smtClean="0"/>
              <a:t>‹#›</a:t>
            </a:fld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20696370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Ảnh có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Chỗ dành sẵn cho Hình ảnh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vi-VN" noProof="0"/>
              <a:t>Bấm vào biểu tượng để thêm ảnh</a:t>
            </a:r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 hasCustomPrompt="1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vi-VN" noProof="0"/>
              <a:t>Bấm để chỉnh sửa kiểu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14201A3-CB45-42FF-87DF-BD5769B8AB2C}" type="datetime1">
              <a:rPr lang="vi-VN" noProof="0" smtClean="0"/>
              <a:t>31/10/2026</a:t>
            </a:fld>
            <a:endParaRPr lang="vi-VN" noProof="0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966EA62-41C5-4F9A-A915-5B0BC739C923}" type="slidenum">
              <a:rPr lang="vi-VN" noProof="0" smtClean="0"/>
              <a:t>‹#›</a:t>
            </a:fld>
            <a:endParaRPr lang="vi-VN" noProof="0"/>
          </a:p>
        </p:txBody>
      </p:sp>
      <p:cxnSp>
        <p:nvCxnSpPr>
          <p:cNvPr id="8" name="Đường nối Thẳng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949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Chỗ dành sẵn cho Văn bản Dọc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826AC85-CCA5-491E-9377-9D3A63401725}" type="datetime1">
              <a:rPr lang="vi-VN" noProof="0" smtClean="0"/>
              <a:t>31/10/2026</a:t>
            </a:fld>
            <a:endParaRPr lang="vi-VN" noProof="0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966EA62-41C5-4F9A-A915-5B0BC739C923}" type="slidenum">
              <a:rPr lang="vi-VN" noProof="0" smtClean="0"/>
              <a:t>‹#›</a:t>
            </a:fld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3636977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Dọc 1"/>
          <p:cNvSpPr>
            <a:spLocks noGrp="1"/>
          </p:cNvSpPr>
          <p:nvPr>
            <p:ph type="title" orient="vert" hasCustomPrompt="1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Chỗ dành sẵn cho Văn bản Dọc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04D912-DB8D-4DD5-A1C0-95BB791CFC9D}" type="datetime1">
              <a:rPr lang="vi-VN" noProof="0" smtClean="0"/>
              <a:t>31/10/2026</a:t>
            </a:fld>
            <a:endParaRPr lang="vi-VN" noProof="0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966EA62-41C5-4F9A-A915-5B0BC739C923}" type="slidenum">
              <a:rPr lang="vi-VN" noProof="0" smtClean="0"/>
              <a:t>‹#›</a:t>
            </a:fld>
            <a:endParaRPr lang="vi-VN" noProof="0"/>
          </a:p>
        </p:txBody>
      </p:sp>
      <p:cxnSp>
        <p:nvCxnSpPr>
          <p:cNvPr id="7" name="Đường nối Thẳng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61571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10DFCEAB-DF33-494F-B21E-FB94A9500613}" type="datetime1">
              <a:rPr lang="vi-VN" noProof="0" smtClean="0"/>
              <a:t>31/10/2026</a:t>
            </a:fld>
            <a:endParaRPr lang="vi-VN" noProof="0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vi-VN" noProof="0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7966EA62-41C5-4F9A-A915-5B0BC739C923}" type="slidenum">
              <a:rPr lang="vi-VN" noProof="0" smtClean="0"/>
              <a:t>‹#›</a:t>
            </a:fld>
            <a:endParaRPr lang="vi-VN" noProof="0"/>
          </a:p>
        </p:txBody>
      </p:sp>
      <p:cxnSp>
        <p:nvCxnSpPr>
          <p:cNvPr id="8" name="Đường nối Thẳng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064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4" r:id="rId1"/>
    <p:sldLayoutId id="2147484495" r:id="rId2"/>
    <p:sldLayoutId id="2147484496" r:id="rId3"/>
    <p:sldLayoutId id="2147484497" r:id="rId4"/>
    <p:sldLayoutId id="2147484498" r:id="rId5"/>
    <p:sldLayoutId id="2147484499" r:id="rId6"/>
    <p:sldLayoutId id="2147484500" r:id="rId7"/>
    <p:sldLayoutId id="2147484501" r:id="rId8"/>
    <p:sldLayoutId id="2147484502" r:id="rId9"/>
    <p:sldLayoutId id="2147484503" r:id="rId10"/>
    <p:sldLayoutId id="2147484504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Đường nối Thẳng 99">
            <a:extLst>
              <a:ext uri="{FF2B5EF4-FFF2-40B4-BE49-F238E27FC236}">
                <a16:creationId xmlns:a16="http://schemas.microsoft.com/office/drawing/2014/main" id="{466A5381-C5C5-4929-819D-58E93DD73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23769" y="3697667"/>
            <a:ext cx="0" cy="119664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Đường nối Thẳng 101">
            <a:extLst>
              <a:ext uri="{FF2B5EF4-FFF2-40B4-BE49-F238E27FC236}">
                <a16:creationId xmlns:a16="http://schemas.microsoft.com/office/drawing/2014/main" id="{E2D21EE2-D070-4DA0-A1AD-9C1E88D91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05016" y="3697667"/>
            <a:ext cx="0" cy="119664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Đường nối Thẳng 102">
            <a:extLst>
              <a:ext uri="{FF2B5EF4-FFF2-40B4-BE49-F238E27FC236}">
                <a16:creationId xmlns:a16="http://schemas.microsoft.com/office/drawing/2014/main" id="{32F3A4D7-B84F-42D6-A659-74286E20A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86263" y="3697667"/>
            <a:ext cx="0" cy="119664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Đường nối Thẳng 103">
            <a:extLst>
              <a:ext uri="{FF2B5EF4-FFF2-40B4-BE49-F238E27FC236}">
                <a16:creationId xmlns:a16="http://schemas.microsoft.com/office/drawing/2014/main" id="{21A1A5B2-BDF8-4C24-8AF8-C28C03D46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267510" y="3697667"/>
            <a:ext cx="0" cy="119664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Đường nối Thẳng 104">
            <a:extLst>
              <a:ext uri="{FF2B5EF4-FFF2-40B4-BE49-F238E27FC236}">
                <a16:creationId xmlns:a16="http://schemas.microsoft.com/office/drawing/2014/main" id="{AB784302-7954-4871-A66D-7F70FFD34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548757" y="3697667"/>
            <a:ext cx="0" cy="119664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Đường nối Thẳng 105">
            <a:extLst>
              <a:ext uri="{FF2B5EF4-FFF2-40B4-BE49-F238E27FC236}">
                <a16:creationId xmlns:a16="http://schemas.microsoft.com/office/drawing/2014/main" id="{F3CC1BD9-74A7-4241-AB01-433AF19DE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830002" y="3697667"/>
            <a:ext cx="0" cy="119664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Đường kết nối: Đường gấp khúc 35">
            <a:extLst>
              <a:ext uri="{FF2B5EF4-FFF2-40B4-BE49-F238E27FC236}">
                <a16:creationId xmlns:a16="http://schemas.microsoft.com/office/drawing/2014/main" id="{1DE0112F-791B-49A1-8CD8-15FA7DC6F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rot="5400000">
            <a:off x="5274748" y="398904"/>
            <a:ext cx="1547783" cy="3249740"/>
          </a:xfrm>
          <a:prstGeom prst="bentConnector3">
            <a:avLst>
              <a:gd name="adj1" fmla="val 79539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Đường kết nối: Đường gấp khúc 48">
            <a:extLst>
              <a:ext uri="{FF2B5EF4-FFF2-40B4-BE49-F238E27FC236}">
                <a16:creationId xmlns:a16="http://schemas.microsoft.com/office/drawing/2014/main" id="{88C5FB59-79BD-402C-B020-CAA59D615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9" idx="2"/>
            <a:endCxn id="30" idx="0"/>
          </p:cNvCxnSpPr>
          <p:nvPr/>
        </p:nvCxnSpPr>
        <p:spPr>
          <a:xfrm rot="16200000" flipH="1">
            <a:off x="8477864" y="445527"/>
            <a:ext cx="1547783" cy="3156493"/>
          </a:xfrm>
          <a:prstGeom prst="bentConnector3">
            <a:avLst>
              <a:gd name="adj1" fmla="val 79539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Đường nối Thẳng 90">
            <a:extLst>
              <a:ext uri="{FF2B5EF4-FFF2-40B4-BE49-F238E27FC236}">
                <a16:creationId xmlns:a16="http://schemas.microsoft.com/office/drawing/2014/main" id="{B35D5690-BFCA-41DE-B9BF-84E7D1879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548757" y="2476500"/>
            <a:ext cx="0" cy="321166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Đường nối Thẳng 92">
            <a:extLst>
              <a:ext uri="{FF2B5EF4-FFF2-40B4-BE49-F238E27FC236}">
                <a16:creationId xmlns:a16="http://schemas.microsoft.com/office/drawing/2014/main" id="{C918219C-ED8A-41E2-A454-104913D38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267510" y="2476500"/>
            <a:ext cx="0" cy="321166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Đường nối Thẳng 93">
            <a:extLst>
              <a:ext uri="{FF2B5EF4-FFF2-40B4-BE49-F238E27FC236}">
                <a16:creationId xmlns:a16="http://schemas.microsoft.com/office/drawing/2014/main" id="{B8E21438-ACE0-4CD2-8E73-C228CB6D6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86263" y="2476500"/>
            <a:ext cx="0" cy="321166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Đường nối Thẳng 94">
            <a:extLst>
              <a:ext uri="{FF2B5EF4-FFF2-40B4-BE49-F238E27FC236}">
                <a16:creationId xmlns:a16="http://schemas.microsoft.com/office/drawing/2014/main" id="{FCD738FB-F9A6-466C-BE09-07B3386B1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05016" y="2476500"/>
            <a:ext cx="0" cy="321166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Đường nối Thẳng 98">
            <a:extLst>
              <a:ext uri="{FF2B5EF4-FFF2-40B4-BE49-F238E27FC236}">
                <a16:creationId xmlns:a16="http://schemas.microsoft.com/office/drawing/2014/main" id="{67799EAF-F8D9-4832-85BE-85588AE22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986262" y="1778000"/>
            <a:ext cx="68724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êu đề 3"/>
          <p:cNvSpPr>
            <a:spLocks noGrp="1"/>
          </p:cNvSpPr>
          <p:nvPr>
            <p:ph type="title"/>
          </p:nvPr>
        </p:nvSpPr>
        <p:spPr>
          <a:xfrm>
            <a:off x="767998" y="643467"/>
            <a:ext cx="2939030" cy="5571066"/>
          </a:xfrm>
        </p:spPr>
        <p:txBody>
          <a:bodyPr lIns="0" tIns="0" rIns="0" bIns="0" rtlCol="0">
            <a:noAutofit/>
          </a:bodyPr>
          <a:lstStyle/>
          <a:p>
            <a:pPr rtl="0">
              <a:lnSpc>
                <a:spcPct val="100000"/>
              </a:lnSpc>
            </a:pPr>
            <a:r>
              <a:rPr lang="vi-VN" spc="-150"/>
              <a:t>Sơ đồ tổ chức</a:t>
            </a:r>
          </a:p>
        </p:txBody>
      </p:sp>
      <p:sp>
        <p:nvSpPr>
          <p:cNvPr id="19" name="Hình chữ nhật 18" descr="Hệ thống cấp bậc Cấp 1">
            <a:extLst>
              <a:ext uri="{FF2B5EF4-FFF2-40B4-BE49-F238E27FC236}">
                <a16:creationId xmlns:a16="http://schemas.microsoft.com/office/drawing/2014/main" id="{21C604EF-32A3-42D7-8586-5D643B7D12C1}"/>
              </a:ext>
            </a:extLst>
          </p:cNvPr>
          <p:cNvSpPr/>
          <p:nvPr/>
        </p:nvSpPr>
        <p:spPr>
          <a:xfrm>
            <a:off x="5111016" y="824452"/>
            <a:ext cx="5124986" cy="4254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dkEdge"/>
        </p:spPr>
        <p:style>
          <a:lnRef idx="0">
            <a:scrgbClr r="0" g="0" b="0"/>
          </a:lnRef>
          <a:fillRef idx="2">
            <a:scrgbClr r="0" g="0" b="0"/>
          </a:fillRef>
          <a:effectRef idx="1">
            <a:scrgbClr r="0" g="0" b="0"/>
          </a:effectRef>
          <a:fontRef idx="minor">
            <a:schemeClr val="dk1"/>
          </a:fontRef>
        </p:style>
        <p:txBody>
          <a:bodyPr spcFirstLastPara="0" vert="horz" wrap="square" lIns="8255" tIns="8255" rIns="8255" bIns="8255" numCol="1" spcCol="1270" rtlCol="0" anchor="ctr" anchorCtr="0">
            <a:noAutofit/>
          </a:bodyPr>
          <a:lstStyle/>
          <a:p>
            <a:pPr marL="0" lvl="0" indent="0" algn="ctr" defTabSz="577850" rtl="0"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100" b="1" kern="1200">
                <a:latin typeface="+mj-lt"/>
              </a:rPr>
              <a:t>MIRJAM NILSSON</a:t>
            </a:r>
            <a:br>
              <a:rPr lang="vi-VN" sz="1100" kern="1200">
                <a:latin typeface="+mj-lt"/>
              </a:rPr>
            </a:br>
            <a:r>
              <a:rPr lang="vi-VN" sz="1100" b="0" kern="1200">
                <a:latin typeface="+mn-lt"/>
              </a:rPr>
              <a:t>Chủ tịch</a:t>
            </a:r>
          </a:p>
        </p:txBody>
      </p:sp>
      <p:sp>
        <p:nvSpPr>
          <p:cNvPr id="32" name="Hình chữ nhật 31" descr="Hệ thống cấp bậc Cấp phụ">
            <a:extLst>
              <a:ext uri="{FF2B5EF4-FFF2-40B4-BE49-F238E27FC236}">
                <a16:creationId xmlns:a16="http://schemas.microsoft.com/office/drawing/2014/main" id="{05E740D1-0BDB-44A7-8B44-8DBC24EE1D85}"/>
              </a:ext>
            </a:extLst>
          </p:cNvPr>
          <p:cNvSpPr/>
          <p:nvPr/>
        </p:nvSpPr>
        <p:spPr>
          <a:xfrm>
            <a:off x="5111017" y="1559983"/>
            <a:ext cx="1875245" cy="425431"/>
          </a:xfrm>
          <a:prstGeom prst="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8255" tIns="8255" rIns="8255" bIns="8255" numCol="1" spcCol="1270" rtlCol="0" anchor="ctr" anchorCtr="0">
            <a:noAutofit/>
          </a:bodyPr>
          <a:lstStyle/>
          <a:p>
            <a:pPr marL="0" lvl="0" indent="0" algn="ctr" defTabSz="577850" rtl="0"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100" b="1" kern="1200">
                <a:solidFill>
                  <a:prstClr val="black"/>
                </a:solidFill>
                <a:latin typeface="+mj-lt"/>
                <a:ea typeface="+mn-ea"/>
                <a:cs typeface="+mn-cs"/>
              </a:rPr>
              <a:t>VICTORIA LINDQVIST</a:t>
            </a:r>
            <a:br>
              <a:rPr lang="vi-VN" sz="1100" kern="1200">
                <a:latin typeface="+mj-lt"/>
              </a:rPr>
            </a:br>
            <a:r>
              <a:rPr lang="vi-VN" sz="1100" b="0" kern="1200">
                <a:solidFill>
                  <a:prstClr val="black"/>
                </a:solidFill>
                <a:ea typeface="+mn-ea"/>
                <a:cs typeface="+mn-cs"/>
              </a:rPr>
              <a:t>Trợ lý Điều hành</a:t>
            </a:r>
          </a:p>
        </p:txBody>
      </p:sp>
      <p:sp>
        <p:nvSpPr>
          <p:cNvPr id="20" name="Hình chữ nhật 19" descr="Hệ thống cấp bậc Cấp 2 Mục 1">
            <a:extLst>
              <a:ext uri="{FF2B5EF4-FFF2-40B4-BE49-F238E27FC236}">
                <a16:creationId xmlns:a16="http://schemas.microsoft.com/office/drawing/2014/main" id="{E27E376D-AE9F-46B0-AA66-A3D22FC5623A}"/>
              </a:ext>
            </a:extLst>
          </p:cNvPr>
          <p:cNvSpPr/>
          <p:nvPr/>
        </p:nvSpPr>
        <p:spPr>
          <a:xfrm>
            <a:off x="3829769" y="2797666"/>
            <a:ext cx="1188000" cy="900000"/>
          </a:xfrm>
          <a:prstGeom prst="rect">
            <a:avLst/>
          </a:prstGeom>
          <a:solidFill>
            <a:schemeClr val="accent1"/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72000" tIns="108000" rIns="72000" bIns="0" numCol="1" spcCol="1270" rtlCol="0" anchor="t" anchorCtr="0">
            <a:noAutofit/>
          </a:bodyPr>
          <a:lstStyle/>
          <a:p>
            <a:pPr marL="0" lvl="0" indent="0" algn="ctr" defTabSz="577850" rtl="0"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100" b="1" kern="1200">
                <a:solidFill>
                  <a:prstClr val="black"/>
                </a:solidFill>
                <a:latin typeface="+mj-lt"/>
                <a:ea typeface="+mn-ea"/>
                <a:cs typeface="+mn-cs"/>
              </a:rPr>
              <a:t>AUGUST BERGQVIST</a:t>
            </a:r>
            <a:br>
              <a:rPr lang="vi-VN" sz="1100" kern="1200"/>
            </a:br>
            <a:r>
              <a:rPr lang="vi-VN" sz="1100" b="0" kern="1200">
                <a:solidFill>
                  <a:prstClr val="black"/>
                </a:solidFill>
                <a:ea typeface="+mn-ea"/>
                <a:cs typeface="+mn-cs"/>
              </a:rPr>
              <a:t>Phó Chủ tịch Tài chính</a:t>
            </a:r>
          </a:p>
        </p:txBody>
      </p:sp>
      <p:sp>
        <p:nvSpPr>
          <p:cNvPr id="21" name="Hình chữ nhật 20" descr="Hệ thống cấp bậc Cấp 3 Mục 1">
            <a:extLst>
              <a:ext uri="{FF2B5EF4-FFF2-40B4-BE49-F238E27FC236}">
                <a16:creationId xmlns:a16="http://schemas.microsoft.com/office/drawing/2014/main" id="{15CEA15C-8C59-4D2F-8040-B72EEAE6FB4A}"/>
              </a:ext>
            </a:extLst>
          </p:cNvPr>
          <p:cNvSpPr/>
          <p:nvPr/>
        </p:nvSpPr>
        <p:spPr>
          <a:xfrm>
            <a:off x="3829769" y="3817331"/>
            <a:ext cx="1188000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72000" tIns="108000" rIns="72000" bIns="0" numCol="1" spcCol="1270" rtlCol="0" anchor="t" anchorCtr="0">
            <a:noAutofit/>
          </a:bodyPr>
          <a:lstStyle/>
          <a:p>
            <a:pPr marL="0" lvl="0" indent="0" algn="ctr" defTabSz="577850" rtl="0"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100" b="1" kern="1200">
                <a:solidFill>
                  <a:prstClr val="black"/>
                </a:solidFill>
                <a:latin typeface="+mj-lt"/>
                <a:ea typeface="+mn-ea"/>
                <a:cs typeface="+mn-cs"/>
              </a:rPr>
              <a:t>MIRA KARLSSON</a:t>
            </a:r>
            <a:br>
              <a:rPr lang="vi-VN" sz="1100" kern="1200">
                <a:latin typeface="+mj-lt"/>
              </a:rPr>
            </a:br>
            <a:r>
              <a:rPr lang="vi-VN" sz="1100" b="0" kern="1200">
                <a:solidFill>
                  <a:prstClr val="black"/>
                </a:solidFill>
                <a:ea typeface="+mn-ea"/>
                <a:cs typeface="+mn-cs"/>
              </a:rPr>
              <a:t>Kế toán</a:t>
            </a:r>
          </a:p>
        </p:txBody>
      </p:sp>
      <p:sp>
        <p:nvSpPr>
          <p:cNvPr id="22" name="Hình chữ nhật 21" descr="Hệ thống cấp bậc Cấp 2 Mục 2">
            <a:extLst>
              <a:ext uri="{FF2B5EF4-FFF2-40B4-BE49-F238E27FC236}">
                <a16:creationId xmlns:a16="http://schemas.microsoft.com/office/drawing/2014/main" id="{FAC2903E-5B1B-456C-94C2-FC7E867D4F53}"/>
              </a:ext>
            </a:extLst>
          </p:cNvPr>
          <p:cNvSpPr/>
          <p:nvPr/>
        </p:nvSpPr>
        <p:spPr>
          <a:xfrm>
            <a:off x="5111016" y="2797666"/>
            <a:ext cx="1188000" cy="900000"/>
          </a:xfrm>
          <a:prstGeom prst="rect">
            <a:avLst/>
          </a:prstGeom>
          <a:solidFill>
            <a:schemeClr val="accent1"/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72000" tIns="108000" rIns="72000" bIns="0" numCol="1" spcCol="1270" rtlCol="0" anchor="t" anchorCtr="0">
            <a:noAutofit/>
          </a:bodyPr>
          <a:lstStyle/>
          <a:p>
            <a:pPr marL="0" lvl="0" indent="0" algn="ctr" defTabSz="577850" rtl="0"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100" b="1" kern="1200">
                <a:solidFill>
                  <a:prstClr val="black"/>
                </a:solidFill>
                <a:latin typeface="+mj-lt"/>
                <a:ea typeface="+mn-ea"/>
                <a:cs typeface="+mn-cs"/>
              </a:rPr>
              <a:t>ANGELICA ASTROM</a:t>
            </a:r>
            <a:br>
              <a:rPr lang="vi-VN" sz="1100" kern="1200">
                <a:latin typeface="+mj-lt"/>
              </a:rPr>
            </a:br>
            <a:r>
              <a:rPr lang="vi-VN" sz="1100" b="0" kern="1200">
                <a:solidFill>
                  <a:prstClr val="black"/>
                </a:solidFill>
                <a:ea typeface="+mn-ea"/>
                <a:cs typeface="+mn-cs"/>
              </a:rPr>
              <a:t>Phó Chủ tịch Công nghệ</a:t>
            </a:r>
          </a:p>
        </p:txBody>
      </p:sp>
      <p:sp>
        <p:nvSpPr>
          <p:cNvPr id="23" name="Hình chữ nhật 22" descr="Hệ thống cấp bậc Cấp 3 Mục 2">
            <a:extLst>
              <a:ext uri="{FF2B5EF4-FFF2-40B4-BE49-F238E27FC236}">
                <a16:creationId xmlns:a16="http://schemas.microsoft.com/office/drawing/2014/main" id="{B1D13964-3BCA-4613-8A6D-5CEC7CC35B3B}"/>
              </a:ext>
            </a:extLst>
          </p:cNvPr>
          <p:cNvSpPr/>
          <p:nvPr/>
        </p:nvSpPr>
        <p:spPr>
          <a:xfrm>
            <a:off x="5111016" y="3817331"/>
            <a:ext cx="1188000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72000" tIns="108000" rIns="72000" bIns="0" numCol="1" spcCol="1270" rtlCol="0" anchor="t" anchorCtr="0">
            <a:noAutofit/>
          </a:bodyPr>
          <a:lstStyle/>
          <a:p>
            <a:pPr marL="0" lvl="0" indent="0" algn="ctr" defTabSz="577850" rtl="0"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100" b="1" kern="1200">
                <a:solidFill>
                  <a:prstClr val="black"/>
                </a:solidFill>
                <a:latin typeface="+mj-lt"/>
                <a:ea typeface="+mn-ea"/>
                <a:cs typeface="+mn-cs"/>
              </a:rPr>
              <a:t>APRIL HANSSON</a:t>
            </a:r>
            <a:br>
              <a:rPr lang="vi-VN" sz="1100" b="1" kern="1200">
                <a:solidFill>
                  <a:prstClr val="black"/>
                </a:solidFill>
                <a:latin typeface="Calibri" panose="020F0502020204030204" pitchFamily="34" charset="0"/>
                <a:ea typeface="+mn-ea"/>
                <a:cs typeface="+mn-cs"/>
              </a:rPr>
            </a:br>
            <a:r>
              <a:rPr lang="vi-VN" sz="1100" b="0" kern="1200">
                <a:solidFill>
                  <a:prstClr val="black"/>
                </a:solidFill>
                <a:ea typeface="+mn-ea"/>
                <a:cs typeface="+mn-cs"/>
              </a:rPr>
              <a:t>Bộ phận Trợ giúp</a:t>
            </a:r>
          </a:p>
        </p:txBody>
      </p:sp>
      <p:sp>
        <p:nvSpPr>
          <p:cNvPr id="33" name="Hình chữ nhật 32" descr="Hệ thống cấp bậc Cấp 3 Mục 2">
            <a:extLst>
              <a:ext uri="{FF2B5EF4-FFF2-40B4-BE49-F238E27FC236}">
                <a16:creationId xmlns:a16="http://schemas.microsoft.com/office/drawing/2014/main" id="{CACBECA8-5F46-4129-B680-BEB24114797F}"/>
              </a:ext>
            </a:extLst>
          </p:cNvPr>
          <p:cNvSpPr/>
          <p:nvPr/>
        </p:nvSpPr>
        <p:spPr>
          <a:xfrm>
            <a:off x="5111016" y="4811410"/>
            <a:ext cx="1188000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72000" tIns="108000" rIns="72000" bIns="0" numCol="1" spcCol="1270" rtlCol="0" anchor="t" anchorCtr="0">
            <a:noAutofit/>
          </a:bodyPr>
          <a:lstStyle/>
          <a:p>
            <a:pPr lvl="0" algn="ctr" defTabSz="577850" rtl="0">
              <a:spcBef>
                <a:spcPct val="0"/>
              </a:spcBef>
              <a:spcAft>
                <a:spcPct val="35000"/>
              </a:spcAft>
            </a:pPr>
            <a:r>
              <a:rPr lang="vi-VN" sz="1100" b="1">
                <a:solidFill>
                  <a:prstClr val="black"/>
                </a:solidFill>
                <a:latin typeface="+mj-lt"/>
              </a:rPr>
              <a:t>JENS MARTENSSON</a:t>
            </a:r>
            <a:br>
              <a:rPr lang="vi-VN" sz="1100"/>
            </a:br>
            <a:r>
              <a:rPr lang="vi-VN" sz="1100">
                <a:solidFill>
                  <a:prstClr val="black"/>
                </a:solidFill>
              </a:rPr>
              <a:t>Giám đốc Dự án</a:t>
            </a:r>
          </a:p>
        </p:txBody>
      </p:sp>
      <p:sp>
        <p:nvSpPr>
          <p:cNvPr id="24" name="Hình chữ nhật 23" descr="Hệ thống cấp bậc Cấp 2 Mục 3">
            <a:extLst>
              <a:ext uri="{FF2B5EF4-FFF2-40B4-BE49-F238E27FC236}">
                <a16:creationId xmlns:a16="http://schemas.microsoft.com/office/drawing/2014/main" id="{E229E048-A3A7-4692-842F-3C90638B8575}"/>
              </a:ext>
            </a:extLst>
          </p:cNvPr>
          <p:cNvSpPr/>
          <p:nvPr/>
        </p:nvSpPr>
        <p:spPr>
          <a:xfrm>
            <a:off x="6392263" y="2797666"/>
            <a:ext cx="1188000" cy="900000"/>
          </a:xfrm>
          <a:prstGeom prst="rect">
            <a:avLst/>
          </a:prstGeom>
          <a:solidFill>
            <a:schemeClr val="accent1"/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72000" tIns="108000" rIns="72000" bIns="0" numCol="1" spcCol="1270" rtlCol="0" anchor="t" anchorCtr="0">
            <a:noAutofit/>
          </a:bodyPr>
          <a:lstStyle/>
          <a:p>
            <a:pPr marL="0" lvl="0" indent="0" algn="ctr" defTabSz="577850" rtl="0"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100" b="1" kern="1200">
                <a:solidFill>
                  <a:prstClr val="black"/>
                </a:solidFill>
                <a:latin typeface="+mj-lt"/>
                <a:ea typeface="+mn-ea"/>
                <a:cs typeface="+mn-cs"/>
              </a:rPr>
              <a:t>ALLAN MATTSSON</a:t>
            </a:r>
            <a:br>
              <a:rPr lang="vi-VN" sz="1100" kern="1200">
                <a:latin typeface="+mj-lt"/>
              </a:rPr>
            </a:br>
            <a:r>
              <a:rPr lang="vi-VN" sz="1100" b="0" kern="1200">
                <a:solidFill>
                  <a:prstClr val="black"/>
                </a:solidFill>
                <a:ea typeface="+mn-ea"/>
                <a:cs typeface="+mn-cs"/>
              </a:rPr>
              <a:t>Phó Chủ tịch Vận hành</a:t>
            </a:r>
          </a:p>
        </p:txBody>
      </p:sp>
      <p:sp>
        <p:nvSpPr>
          <p:cNvPr id="25" name="Hình chữ nhật 24" descr="Hệ thống cấp bậc Cấp 3 Mục 3">
            <a:extLst>
              <a:ext uri="{FF2B5EF4-FFF2-40B4-BE49-F238E27FC236}">
                <a16:creationId xmlns:a16="http://schemas.microsoft.com/office/drawing/2014/main" id="{A02A68C5-2481-443C-9339-71AFFFE8B3C6}"/>
              </a:ext>
            </a:extLst>
          </p:cNvPr>
          <p:cNvSpPr/>
          <p:nvPr/>
        </p:nvSpPr>
        <p:spPr>
          <a:xfrm>
            <a:off x="6392263" y="3817331"/>
            <a:ext cx="1188000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72000" tIns="108000" rIns="72000" bIns="0" numCol="1" spcCol="1270" rtlCol="0" anchor="t" anchorCtr="0">
            <a:noAutofit/>
          </a:bodyPr>
          <a:lstStyle/>
          <a:p>
            <a:pPr marL="0" lvl="0" indent="0" algn="ctr" defTabSz="577850" rtl="0"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100" b="1" kern="1200">
                <a:solidFill>
                  <a:prstClr val="black"/>
                </a:solidFill>
                <a:latin typeface="+mj-lt"/>
                <a:ea typeface="+mn-ea"/>
                <a:cs typeface="+mn-cs"/>
              </a:rPr>
              <a:t>KALLE PERSSON</a:t>
            </a:r>
            <a:br>
              <a:rPr lang="vi-VN" sz="1100" kern="1200">
                <a:latin typeface="+mj-lt"/>
              </a:rPr>
            </a:br>
            <a:r>
              <a:rPr lang="vi-VN" sz="1100" b="0" kern="1200">
                <a:solidFill>
                  <a:prstClr val="black"/>
                </a:solidFill>
                <a:ea typeface="+mn-ea"/>
                <a:cs typeface="+mn-cs"/>
              </a:rPr>
              <a:t>Cơ sở</a:t>
            </a:r>
          </a:p>
        </p:txBody>
      </p:sp>
      <p:sp>
        <p:nvSpPr>
          <p:cNvPr id="26" name="Hình chữ nhật 25" descr="Hệ thống cấp bậc Cấp 2 Mục 4">
            <a:extLst>
              <a:ext uri="{FF2B5EF4-FFF2-40B4-BE49-F238E27FC236}">
                <a16:creationId xmlns:a16="http://schemas.microsoft.com/office/drawing/2014/main" id="{6CC65D6C-DD16-4338-8CA6-BFA0B65035D7}"/>
              </a:ext>
            </a:extLst>
          </p:cNvPr>
          <p:cNvSpPr/>
          <p:nvPr/>
        </p:nvSpPr>
        <p:spPr>
          <a:xfrm>
            <a:off x="7673510" y="2797666"/>
            <a:ext cx="1188000" cy="900000"/>
          </a:xfrm>
          <a:prstGeom prst="rect">
            <a:avLst/>
          </a:prstGeom>
          <a:solidFill>
            <a:schemeClr val="accent3"/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72000" tIns="108000" rIns="72000" bIns="0" numCol="1" spcCol="1270" rtlCol="0" anchor="t" anchorCtr="0">
            <a:noAutofit/>
          </a:bodyPr>
          <a:lstStyle/>
          <a:p>
            <a:pPr marL="0" lvl="0" indent="0" algn="ctr" defTabSz="577850" rtl="0"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100" b="1" kern="1200">
                <a:solidFill>
                  <a:prstClr val="black"/>
                </a:solidFill>
                <a:latin typeface="+mj-lt"/>
                <a:ea typeface="+mn-ea"/>
                <a:cs typeface="+mn-cs"/>
              </a:rPr>
              <a:t>FLORA BERGGREN</a:t>
            </a:r>
            <a:br>
              <a:rPr lang="vi-VN" sz="1100" kern="1200">
                <a:latin typeface="+mj-lt"/>
              </a:rPr>
            </a:br>
            <a:r>
              <a:rPr lang="vi-VN" sz="1100" b="0" kern="1200">
                <a:solidFill>
                  <a:prstClr val="black"/>
                </a:solidFill>
                <a:ea typeface="+mn-ea"/>
                <a:cs typeface="+mn-cs"/>
              </a:rPr>
              <a:t>Phó Chủ tịch Tiếp thị</a:t>
            </a:r>
          </a:p>
        </p:txBody>
      </p:sp>
      <p:sp>
        <p:nvSpPr>
          <p:cNvPr id="27" name="Hình chữ nhật 26" descr="Hệ thống cấp bậc Cấp 3 Mục 4">
            <a:extLst>
              <a:ext uri="{FF2B5EF4-FFF2-40B4-BE49-F238E27FC236}">
                <a16:creationId xmlns:a16="http://schemas.microsoft.com/office/drawing/2014/main" id="{0FA8CCAE-6C83-4256-B2BA-18AE94FC1DE0}"/>
              </a:ext>
            </a:extLst>
          </p:cNvPr>
          <p:cNvSpPr/>
          <p:nvPr/>
        </p:nvSpPr>
        <p:spPr>
          <a:xfrm>
            <a:off x="7673510" y="3817331"/>
            <a:ext cx="1188000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72000" tIns="108000" rIns="72000" bIns="0" numCol="1" spcCol="1270" rtlCol="0" anchor="t" anchorCtr="0">
            <a:noAutofit/>
          </a:bodyPr>
          <a:lstStyle/>
          <a:p>
            <a:pPr marL="0" lvl="0" indent="0" algn="ctr" defTabSz="577850" rtl="0"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100" b="1" kern="1200">
                <a:solidFill>
                  <a:prstClr val="black"/>
                </a:solidFill>
                <a:latin typeface="+mj-lt"/>
                <a:ea typeface="+mn-ea"/>
                <a:cs typeface="+mn-cs"/>
              </a:rPr>
              <a:t>JENS MARTENSSON</a:t>
            </a:r>
            <a:br>
              <a:rPr lang="vi-VN" sz="1100" kern="1200">
                <a:latin typeface="+mj-lt"/>
              </a:rPr>
            </a:br>
            <a:r>
              <a:rPr lang="vi-VN" sz="1100" b="0" kern="1200">
                <a:solidFill>
                  <a:prstClr val="black"/>
                </a:solidFill>
                <a:ea typeface="+mn-ea"/>
                <a:cs typeface="+mn-cs"/>
              </a:rPr>
              <a:t>Giám đốc Dự án</a:t>
            </a:r>
          </a:p>
        </p:txBody>
      </p:sp>
      <p:sp>
        <p:nvSpPr>
          <p:cNvPr id="34" name="Hình chữ nhật 33" descr="Hệ thống cấp bậc Cấp 3 Mục 4">
            <a:extLst>
              <a:ext uri="{FF2B5EF4-FFF2-40B4-BE49-F238E27FC236}">
                <a16:creationId xmlns:a16="http://schemas.microsoft.com/office/drawing/2014/main" id="{E13E0FEE-D99C-4128-A8A5-2BAB37F5792E}"/>
              </a:ext>
            </a:extLst>
          </p:cNvPr>
          <p:cNvSpPr/>
          <p:nvPr/>
        </p:nvSpPr>
        <p:spPr>
          <a:xfrm>
            <a:off x="7673510" y="4811410"/>
            <a:ext cx="1188000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72000" tIns="108000" rIns="72000" bIns="0" numCol="1" spcCol="1270" rtlCol="0" anchor="t" anchorCtr="0">
            <a:noAutofit/>
          </a:bodyPr>
          <a:lstStyle/>
          <a:p>
            <a:pPr lvl="0" algn="ctr" defTabSz="577850" rtl="0">
              <a:spcBef>
                <a:spcPct val="0"/>
              </a:spcBef>
              <a:spcAft>
                <a:spcPct val="35000"/>
              </a:spcAft>
            </a:pPr>
            <a:r>
              <a:rPr lang="vi-VN" sz="1100" b="1">
                <a:solidFill>
                  <a:prstClr val="black"/>
                </a:solidFill>
                <a:latin typeface="+mj-lt"/>
              </a:rPr>
              <a:t>MIRA KARLSSON</a:t>
            </a:r>
            <a:br>
              <a:rPr lang="vi-VN" sz="1100"/>
            </a:br>
            <a:r>
              <a:rPr lang="vi-VN" sz="1100">
                <a:solidFill>
                  <a:prstClr val="black"/>
                </a:solidFill>
              </a:rPr>
              <a:t>Kế toán</a:t>
            </a:r>
          </a:p>
        </p:txBody>
      </p:sp>
      <p:sp>
        <p:nvSpPr>
          <p:cNvPr id="28" name="Hình chữ nhật 27" descr="Hệ thống cấp bậc Cấp 2 Mục 5">
            <a:extLst>
              <a:ext uri="{FF2B5EF4-FFF2-40B4-BE49-F238E27FC236}">
                <a16:creationId xmlns:a16="http://schemas.microsoft.com/office/drawing/2014/main" id="{D9B98AB0-A449-4332-82F4-94318C473B83}"/>
              </a:ext>
            </a:extLst>
          </p:cNvPr>
          <p:cNvSpPr/>
          <p:nvPr/>
        </p:nvSpPr>
        <p:spPr>
          <a:xfrm>
            <a:off x="8954757" y="2797666"/>
            <a:ext cx="1188000" cy="900000"/>
          </a:xfrm>
          <a:prstGeom prst="rect">
            <a:avLst/>
          </a:prstGeom>
          <a:solidFill>
            <a:schemeClr val="accent3"/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72000" tIns="108000" rIns="72000" bIns="0" numCol="1" spcCol="1270" rtlCol="0" anchor="t" anchorCtr="0">
            <a:noAutofit/>
          </a:bodyPr>
          <a:lstStyle/>
          <a:p>
            <a:pPr marL="0" lvl="0" indent="0" algn="ctr" defTabSz="577850" rtl="0"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100" b="1" kern="1200">
                <a:solidFill>
                  <a:prstClr val="black"/>
                </a:solidFill>
                <a:latin typeface="+mj-lt"/>
                <a:ea typeface="+mn-ea"/>
                <a:cs typeface="+mn-cs"/>
              </a:rPr>
              <a:t>FLORA BERGGREN</a:t>
            </a:r>
            <a:br>
              <a:rPr lang="vi-VN" sz="1100" kern="1200">
                <a:latin typeface="+mj-lt"/>
              </a:rPr>
            </a:br>
            <a:r>
              <a:rPr lang="vi-VN" sz="1100" b="0" kern="1200">
                <a:solidFill>
                  <a:prstClr val="black"/>
                </a:solidFill>
                <a:ea typeface="+mn-ea"/>
                <a:cs typeface="+mn-cs"/>
              </a:rPr>
              <a:t>Phó Chủ tịch Sản xuất</a:t>
            </a:r>
          </a:p>
        </p:txBody>
      </p:sp>
      <p:sp>
        <p:nvSpPr>
          <p:cNvPr id="29" name="Hình chữ nhật 28" descr="Hệ thống cấp bậc Cấp 3 Mục 5">
            <a:extLst>
              <a:ext uri="{FF2B5EF4-FFF2-40B4-BE49-F238E27FC236}">
                <a16:creationId xmlns:a16="http://schemas.microsoft.com/office/drawing/2014/main" id="{743439A9-C933-477D-A966-F21E29691839}"/>
              </a:ext>
            </a:extLst>
          </p:cNvPr>
          <p:cNvSpPr/>
          <p:nvPr/>
        </p:nvSpPr>
        <p:spPr>
          <a:xfrm>
            <a:off x="8954757" y="3817331"/>
            <a:ext cx="1188000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72000" tIns="108000" rIns="72000" bIns="0" numCol="1" spcCol="1270" rtlCol="0" anchor="t" anchorCtr="0">
            <a:noAutofit/>
          </a:bodyPr>
          <a:lstStyle/>
          <a:p>
            <a:pPr marL="0" lvl="0" indent="0" algn="ctr" defTabSz="577850" rtl="0"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100" b="1" kern="1200">
                <a:solidFill>
                  <a:prstClr val="black"/>
                </a:solidFill>
                <a:latin typeface="+mj-lt"/>
                <a:ea typeface="+mn-ea"/>
                <a:cs typeface="+mn-cs"/>
              </a:rPr>
              <a:t>VICTORIA PERSSON</a:t>
            </a:r>
            <a:br>
              <a:rPr lang="vi-VN" sz="1100" kern="1200">
                <a:latin typeface="+mj-lt"/>
              </a:rPr>
            </a:br>
            <a:r>
              <a:rPr lang="vi-VN" sz="1100" b="0" kern="1200">
                <a:solidFill>
                  <a:prstClr val="black"/>
                </a:solidFill>
                <a:ea typeface="+mn-ea"/>
                <a:cs typeface="+mn-cs"/>
              </a:rPr>
              <a:t>Giám đốc Sản xuất</a:t>
            </a:r>
          </a:p>
        </p:txBody>
      </p:sp>
      <p:sp>
        <p:nvSpPr>
          <p:cNvPr id="30" name="Hình chữ nhật 29" descr="Hệ thống cấp bậc Cấp 2 Mục 6">
            <a:extLst>
              <a:ext uri="{FF2B5EF4-FFF2-40B4-BE49-F238E27FC236}">
                <a16:creationId xmlns:a16="http://schemas.microsoft.com/office/drawing/2014/main" id="{F8066417-8A57-4907-85EC-A2494CB96202}"/>
              </a:ext>
            </a:extLst>
          </p:cNvPr>
          <p:cNvSpPr/>
          <p:nvPr/>
        </p:nvSpPr>
        <p:spPr>
          <a:xfrm>
            <a:off x="10236002" y="2797666"/>
            <a:ext cx="1188000" cy="900000"/>
          </a:xfrm>
          <a:prstGeom prst="rect">
            <a:avLst/>
          </a:prstGeom>
          <a:solidFill>
            <a:schemeClr val="accent5"/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72000" tIns="108000" rIns="72000" bIns="0" numCol="1" spcCol="1270" rtlCol="0" anchor="t" anchorCtr="0">
            <a:noAutofit/>
          </a:bodyPr>
          <a:lstStyle/>
          <a:p>
            <a:pPr marL="0" lvl="0" indent="0" algn="ctr" defTabSz="577850" rtl="0"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100" b="1" kern="1200">
                <a:solidFill>
                  <a:prstClr val="black"/>
                </a:solidFill>
                <a:latin typeface="+mj-lt"/>
                <a:ea typeface="+mn-ea"/>
                <a:cs typeface="+mn-cs"/>
              </a:rPr>
              <a:t>IAN HANSSON</a:t>
            </a:r>
            <a:br>
              <a:rPr lang="vi-VN" sz="1100" kern="1200">
                <a:latin typeface="+mj-lt"/>
              </a:rPr>
            </a:br>
            <a:r>
              <a:rPr lang="vi-VN" sz="1100" b="0" kern="1200">
                <a:solidFill>
                  <a:prstClr val="black"/>
                </a:solidFill>
                <a:ea typeface="+mn-ea"/>
                <a:cs typeface="+mn-cs"/>
              </a:rPr>
              <a:t>Phó Chủ tịch Vận chuyển</a:t>
            </a:r>
          </a:p>
        </p:txBody>
      </p:sp>
      <p:sp>
        <p:nvSpPr>
          <p:cNvPr id="31" name="Hình chữ nhật 30" descr="Hệ thống cấp bậc Cấp 3 Mục 6">
            <a:extLst>
              <a:ext uri="{FF2B5EF4-FFF2-40B4-BE49-F238E27FC236}">
                <a16:creationId xmlns:a16="http://schemas.microsoft.com/office/drawing/2014/main" id="{E0BA9528-74CE-4286-A8E3-697EED90FF57}"/>
              </a:ext>
            </a:extLst>
          </p:cNvPr>
          <p:cNvSpPr/>
          <p:nvPr/>
        </p:nvSpPr>
        <p:spPr>
          <a:xfrm>
            <a:off x="10236002" y="3817331"/>
            <a:ext cx="1188000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72000" tIns="108000" rIns="72000" bIns="0" numCol="1" spcCol="1270" rtlCol="0" anchor="t" anchorCtr="0">
            <a:noAutofit/>
          </a:bodyPr>
          <a:lstStyle/>
          <a:p>
            <a:pPr marL="0" lvl="0" indent="0" algn="ctr" defTabSz="577850" rtl="0"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100" b="1" kern="1200">
                <a:solidFill>
                  <a:prstClr val="black"/>
                </a:solidFill>
                <a:latin typeface="+mj-lt"/>
                <a:ea typeface="+mn-ea"/>
                <a:cs typeface="+mn-cs"/>
              </a:rPr>
              <a:t>ANGELICA HANSSON</a:t>
            </a:r>
            <a:br>
              <a:rPr lang="vi-VN" sz="1100" b="1" kern="1200">
                <a:solidFill>
                  <a:prstClr val="black"/>
                </a:solidFill>
                <a:latin typeface="Calibri" panose="020F0502020204030204" pitchFamily="34" charset="0"/>
                <a:ea typeface="+mn-ea"/>
                <a:cs typeface="+mn-cs"/>
              </a:rPr>
            </a:br>
            <a:r>
              <a:rPr lang="vi-VN" sz="1100" b="0" kern="1200">
                <a:solidFill>
                  <a:prstClr val="black"/>
                </a:solidFill>
                <a:ea typeface="+mn-ea"/>
                <a:cs typeface="+mn-cs"/>
              </a:rPr>
              <a:t>Điều phối</a:t>
            </a:r>
          </a:p>
        </p:txBody>
      </p:sp>
      <p:sp>
        <p:nvSpPr>
          <p:cNvPr id="126" name="Hình chữ nhật 125" descr="Chú giải">
            <a:extLst>
              <a:ext uri="{FF2B5EF4-FFF2-40B4-BE49-F238E27FC236}">
                <a16:creationId xmlns:a16="http://schemas.microsoft.com/office/drawing/2014/main" id="{87078AC5-D985-47B2-ADD8-612E6D2FECA8}"/>
              </a:ext>
            </a:extLst>
          </p:cNvPr>
          <p:cNvSpPr/>
          <p:nvPr/>
        </p:nvSpPr>
        <p:spPr>
          <a:xfrm>
            <a:off x="8972914" y="6214535"/>
            <a:ext cx="145256" cy="145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vi-VN"/>
          </a:p>
        </p:txBody>
      </p:sp>
      <p:sp>
        <p:nvSpPr>
          <p:cNvPr id="127" name="Hộp văn bản 126">
            <a:extLst>
              <a:ext uri="{FF2B5EF4-FFF2-40B4-BE49-F238E27FC236}">
                <a16:creationId xmlns:a16="http://schemas.microsoft.com/office/drawing/2014/main" id="{35906265-95C1-4679-B825-B5B8CF837E12}"/>
              </a:ext>
            </a:extLst>
          </p:cNvPr>
          <p:cNvSpPr txBox="1"/>
          <p:nvPr/>
        </p:nvSpPr>
        <p:spPr>
          <a:xfrm>
            <a:off x="9238709" y="6214534"/>
            <a:ext cx="560988" cy="1452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vi-VN" sz="900"/>
              <a:t>Quốc gia</a:t>
            </a:r>
          </a:p>
        </p:txBody>
      </p:sp>
      <p:sp>
        <p:nvSpPr>
          <p:cNvPr id="133" name="Hình chữ nhật 132" descr="Chú giải">
            <a:extLst>
              <a:ext uri="{FF2B5EF4-FFF2-40B4-BE49-F238E27FC236}">
                <a16:creationId xmlns:a16="http://schemas.microsoft.com/office/drawing/2014/main" id="{329A930C-4BC7-4D0E-911A-9C2A08DE6517}"/>
              </a:ext>
            </a:extLst>
          </p:cNvPr>
          <p:cNvSpPr/>
          <p:nvPr/>
        </p:nvSpPr>
        <p:spPr>
          <a:xfrm>
            <a:off x="9866494" y="6214535"/>
            <a:ext cx="145256" cy="1452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vi-VN"/>
          </a:p>
        </p:txBody>
      </p:sp>
      <p:sp>
        <p:nvSpPr>
          <p:cNvPr id="134" name="Hộp văn bản 133">
            <a:extLst>
              <a:ext uri="{FF2B5EF4-FFF2-40B4-BE49-F238E27FC236}">
                <a16:creationId xmlns:a16="http://schemas.microsoft.com/office/drawing/2014/main" id="{E30F1624-7332-47D4-96B7-3D9EF1CB0814}"/>
              </a:ext>
            </a:extLst>
          </p:cNvPr>
          <p:cNvSpPr txBox="1"/>
          <p:nvPr/>
        </p:nvSpPr>
        <p:spPr>
          <a:xfrm>
            <a:off x="10132289" y="6214533"/>
            <a:ext cx="414767" cy="1452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vi-VN" sz="900"/>
              <a:t>Nội địa</a:t>
            </a:r>
          </a:p>
        </p:txBody>
      </p:sp>
      <p:sp>
        <p:nvSpPr>
          <p:cNvPr id="136" name="Hình chữ nhật 135" descr="Chú giải">
            <a:extLst>
              <a:ext uri="{FF2B5EF4-FFF2-40B4-BE49-F238E27FC236}">
                <a16:creationId xmlns:a16="http://schemas.microsoft.com/office/drawing/2014/main" id="{FA6DE25B-B104-4672-ABD0-40DCA8D520A0}"/>
              </a:ext>
            </a:extLst>
          </p:cNvPr>
          <p:cNvSpPr/>
          <p:nvPr/>
        </p:nvSpPr>
        <p:spPr>
          <a:xfrm>
            <a:off x="10693277" y="6214535"/>
            <a:ext cx="145256" cy="14525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vi-VN"/>
          </a:p>
        </p:txBody>
      </p:sp>
      <p:sp>
        <p:nvSpPr>
          <p:cNvPr id="137" name="Hộp văn bản 136">
            <a:extLst>
              <a:ext uri="{FF2B5EF4-FFF2-40B4-BE49-F238E27FC236}">
                <a16:creationId xmlns:a16="http://schemas.microsoft.com/office/drawing/2014/main" id="{2565F47F-143D-4D26-B25E-D216B9C37062}"/>
              </a:ext>
            </a:extLst>
          </p:cNvPr>
          <p:cNvSpPr txBox="1"/>
          <p:nvPr/>
        </p:nvSpPr>
        <p:spPr>
          <a:xfrm>
            <a:off x="10959072" y="6214533"/>
            <a:ext cx="588109" cy="1452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vi-VN" sz="900"/>
              <a:t>Quốc tế</a:t>
            </a:r>
          </a:p>
        </p:txBody>
      </p:sp>
    </p:spTree>
    <p:extLst>
      <p:ext uri="{BB962C8B-B14F-4D97-AF65-F5344CB8AC3E}">
        <p14:creationId xmlns:p14="http://schemas.microsoft.com/office/powerpoint/2010/main" val="42129725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́ch phân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1561227_win32_fixed" id="{148BE928-B567-42F9-8E52-7C19B8BC731D}" vid="{16DBE7D2-6117-47AF-9318-FF104FB3211D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119</Words>
  <Application>Microsoft Office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Tahoma</vt:lpstr>
      <vt:lpstr>Tw Cen MT</vt:lpstr>
      <vt:lpstr>Wingdings 3</vt:lpstr>
      <vt:lpstr>Tích phân</vt:lpstr>
      <vt:lpstr>Sơ đồ tổ chức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FPT-ACER</dc:creator>
  <cp:lastModifiedBy>Anh Đào Ngọc</cp:lastModifiedBy>
  <cp:revision>2</cp:revision>
  <dcterms:created xsi:type="dcterms:W3CDTF">2026-10-30T12:54:43Z</dcterms:created>
  <dcterms:modified xsi:type="dcterms:W3CDTF">2026-10-30T17:17:02Z</dcterms:modified>
</cp:coreProperties>
</file>